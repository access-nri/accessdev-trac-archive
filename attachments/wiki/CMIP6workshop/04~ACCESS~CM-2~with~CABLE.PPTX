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" ContentType="image/tif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56" r:id="rId5"/>
    <p:sldId id="263" r:id="rId6"/>
    <p:sldId id="258" r:id="rId7"/>
    <p:sldId id="262" r:id="rId8"/>
    <p:sldId id="261" r:id="rId9"/>
    <p:sldId id="264" r:id="rId10"/>
    <p:sldId id="265" r:id="rId11"/>
    <p:sldId id="257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7C8C"/>
    <a:srgbClr val="532939"/>
    <a:srgbClr val="8A6579"/>
    <a:srgbClr val="899F99"/>
    <a:srgbClr val="ACAA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751"/>
  </p:normalViewPr>
  <p:slideViewPr>
    <p:cSldViewPr snapToGrid="0" snapToObjects="1">
      <p:cViewPr varScale="1">
        <p:scale>
          <a:sx n="119" d="100"/>
          <a:sy n="119" d="100"/>
        </p:scale>
        <p:origin x="102" y="1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2" d="100"/>
          <a:sy n="72" d="100"/>
        </p:scale>
        <p:origin x="3592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6E645-434C-EA49-B6C6-C5690AE0E696}" type="datetimeFigureOut">
              <a:rPr lang="en-US" smtClean="0"/>
              <a:t>5/30/2018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006D3A-93EA-CB41-BAE5-94634AB78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9122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1C43BC-87C1-AD48-8DA8-7FA849D3A8A5}" type="datetimeFigureOut">
              <a:rPr lang="en-US" smtClean="0"/>
              <a:t>5/30/2018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66F5A1-B8CD-C341-A68D-A28A25926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217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tif"/><Relationship Id="rId9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6854843" y="4173746"/>
            <a:ext cx="2162158" cy="9098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7311" y="4509245"/>
            <a:ext cx="8013597" cy="490853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394" y="1186150"/>
            <a:ext cx="9145394" cy="2268000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3" y="3199894"/>
            <a:ext cx="9143999" cy="10108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7309" y="3258409"/>
            <a:ext cx="8013596" cy="990050"/>
          </a:xfrm>
        </p:spPr>
        <p:txBody>
          <a:bodyPr anchor="t" anchorCtr="0">
            <a:normAutofit/>
          </a:bodyPr>
          <a:lstStyle>
            <a:lvl1pPr algn="l">
              <a:defRPr sz="38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3" y="897565"/>
            <a:ext cx="9143999" cy="1549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16" name="Triangle 15"/>
          <p:cNvSpPr/>
          <p:nvPr userDrawn="1"/>
        </p:nvSpPr>
        <p:spPr>
          <a:xfrm rot="10800000">
            <a:off x="774890" y="4192902"/>
            <a:ext cx="393539" cy="21327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7645" y="257751"/>
            <a:ext cx="1899865" cy="75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330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9933"/>
            <a:ext cx="7886700" cy="994172"/>
          </a:xfrm>
        </p:spPr>
        <p:txBody>
          <a:bodyPr>
            <a:normAutofit/>
          </a:bodyPr>
          <a:lstStyle>
            <a:lvl1pPr>
              <a:defRPr sz="36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4000"/>
              </a:lnSpc>
              <a:defRPr sz="2400"/>
            </a:lvl1pPr>
            <a:lvl2pPr>
              <a:lnSpc>
                <a:spcPct val="114000"/>
              </a:lnSpc>
              <a:defRPr sz="2000"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091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6"/>
            <a:ext cx="7886700" cy="2139553"/>
          </a:xfrm>
        </p:spPr>
        <p:txBody>
          <a:bodyPr anchor="b"/>
          <a:lstStyle>
            <a:lvl1pPr>
              <a:defRPr sz="6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482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16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6"/>
            <a:ext cx="7886700" cy="7175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3" y="1260872"/>
            <a:ext cx="3887391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3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02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89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30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1"/>
            <a:ext cx="4629150" cy="36552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23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1"/>
            <a:ext cx="4629150" cy="365521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936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30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5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3" y="273845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4129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3000" y="2701529"/>
            <a:ext cx="6261100" cy="605937"/>
          </a:xfrm>
        </p:spPr>
        <p:txBody>
          <a:bodyPr/>
          <a:lstStyle>
            <a:lvl1pPr marL="0" indent="0" algn="l">
              <a:buNone/>
              <a:defRPr sz="1800">
                <a:solidFill>
                  <a:srgbClr val="8A6579"/>
                </a:solidFill>
              </a:defRPr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6389226" y="4173746"/>
            <a:ext cx="2627776" cy="9098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1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75401"/>
            <a:ext cx="9145394" cy="2268000"/>
          </a:xfrm>
          <a:prstGeom prst="rect">
            <a:avLst/>
          </a:prstGeom>
        </p:spPr>
      </p:pic>
      <p:sp>
        <p:nvSpPr>
          <p:cNvPr id="18" name="Rectangle 17"/>
          <p:cNvSpPr/>
          <p:nvPr userDrawn="1"/>
        </p:nvSpPr>
        <p:spPr>
          <a:xfrm>
            <a:off x="0" y="2902834"/>
            <a:ext cx="9144000" cy="8345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riangle 18"/>
          <p:cNvSpPr/>
          <p:nvPr userDrawn="1"/>
        </p:nvSpPr>
        <p:spPr>
          <a:xfrm>
            <a:off x="8083794" y="3537927"/>
            <a:ext cx="393539" cy="20252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2745" y="3170627"/>
            <a:ext cx="5370969" cy="511329"/>
          </a:xfrm>
        </p:spPr>
        <p:txBody>
          <a:bodyPr anchor="t">
            <a:noAutofit/>
          </a:bodyPr>
          <a:lstStyle>
            <a:lvl1pPr algn="l">
              <a:defRPr sz="1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5887331" y="3171126"/>
            <a:ext cx="27725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www.nespclimate.com.au</a:t>
            </a:r>
            <a:endParaRPr lang="en-US" sz="1600" b="1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344039" y="2885442"/>
            <a:ext cx="34492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FOR MORE INFORMATION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1" y="375325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rial" charset="0"/>
                <a:ea typeface="Arial" charset="0"/>
                <a:cs typeface="Arial" charset="0"/>
              </a:rPr>
              <a:t>The</a:t>
            </a:r>
            <a:r>
              <a:rPr lang="en-US" sz="900" baseline="0" dirty="0">
                <a:latin typeface="Arial" charset="0"/>
                <a:ea typeface="Arial" charset="0"/>
                <a:cs typeface="Arial" charset="0"/>
              </a:rPr>
              <a:t> Earth Systems and Climate Change Hub is funded by the Australian Government’s National Environmental Science Program,</a:t>
            </a:r>
            <a:br>
              <a:rPr lang="en-US" sz="900" baseline="0" dirty="0">
                <a:latin typeface="Arial" charset="0"/>
                <a:ea typeface="Arial" charset="0"/>
                <a:cs typeface="Arial" charset="0"/>
              </a:rPr>
            </a:br>
            <a:r>
              <a:rPr lang="en-US" sz="900" baseline="0" dirty="0">
                <a:latin typeface="Arial" charset="0"/>
                <a:ea typeface="Arial" charset="0"/>
                <a:cs typeface="Arial" charset="0"/>
              </a:rPr>
              <a:t>with co-investment from the following partner agencies</a:t>
            </a:r>
            <a:endParaRPr lang="en-US" sz="9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3" y="897565"/>
            <a:ext cx="9143999" cy="1549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745" y="200909"/>
            <a:ext cx="1815290" cy="72430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4503" y="4173746"/>
            <a:ext cx="926026" cy="64845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091" y="4269264"/>
            <a:ext cx="515735" cy="51573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443" y="4371355"/>
            <a:ext cx="975392" cy="33388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736" y="4345326"/>
            <a:ext cx="1395006" cy="362702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3964" y="4266683"/>
            <a:ext cx="1350354" cy="58041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242" y="4350010"/>
            <a:ext cx="1116418" cy="47219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088" y="4285449"/>
            <a:ext cx="921762" cy="48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837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7047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19200"/>
            <a:ext cx="7886700" cy="34135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8650" y="4733925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45943" y="4326061"/>
            <a:ext cx="1708522" cy="68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165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400" b="0" kern="1200">
          <a:solidFill>
            <a:srgbClr val="7F7F7F"/>
          </a:solidFill>
          <a:latin typeface="Arial" charset="0"/>
          <a:ea typeface="Arial" charset="0"/>
          <a:cs typeface="Arial" charset="0"/>
        </a:defRPr>
      </a:lvl1pPr>
    </p:titleStyle>
    <p:bodyStyle>
      <a:lvl1pPr marL="228594" indent="-228594" algn="l" defTabSz="914377" rtl="0" eaLnBrk="1" latinLnBrk="0" hangingPunct="1">
        <a:lnSpc>
          <a:spcPct val="114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8A6579"/>
          </a:solidFill>
          <a:latin typeface="Arial" charset="0"/>
          <a:ea typeface="Arial" charset="0"/>
          <a:cs typeface="Arial" charset="0"/>
        </a:defRPr>
      </a:lvl1pPr>
      <a:lvl2pPr marL="685783" indent="-228594" algn="l" defTabSz="914377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42971" indent="-228594" algn="l" defTabSz="914377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600160" indent="-228594" algn="l" defTabSz="914377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349" indent="-228594" algn="l" defTabSz="914377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Martin Dix</a:t>
            </a:r>
            <a:r>
              <a:rPr lang="en-US" dirty="0" smtClean="0"/>
              <a:t> CSIRO Oceans and Atmosphere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ACCESS CM-2 with CABLE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911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Recent simulations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AMIP runs </a:t>
            </a:r>
          </a:p>
          <a:p>
            <a:pPr lvl="1"/>
            <a:r>
              <a:rPr lang="en-AU" dirty="0" smtClean="0"/>
              <a:t>ACCESS1.4 like options</a:t>
            </a:r>
          </a:p>
          <a:p>
            <a:pPr lvl="1"/>
            <a:r>
              <a:rPr lang="en-AU" dirty="0" smtClean="0"/>
              <a:t>“Conservative” options</a:t>
            </a:r>
          </a:p>
          <a:p>
            <a:pPr lvl="1"/>
            <a:r>
              <a:rPr lang="en-AU" dirty="0" smtClean="0"/>
              <a:t>New science</a:t>
            </a:r>
          </a:p>
          <a:p>
            <a:r>
              <a:rPr lang="en-AU" dirty="0" smtClean="0"/>
              <a:t>Coupled PI control run with “conservative” options</a:t>
            </a:r>
          </a:p>
          <a:p>
            <a:pPr lvl="1"/>
            <a:r>
              <a:rPr lang="en-AU" dirty="0" smtClean="0"/>
              <a:t>Based on JULES experiment u-at658. Started from year 200</a:t>
            </a:r>
          </a:p>
          <a:p>
            <a:r>
              <a:rPr lang="en-AU" dirty="0" smtClean="0"/>
              <a:t>No carbon cycle experiments planned for CMIP6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5157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C13E89-9EAF-7E4E-8CED-7839092BA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CABLE science &amp; fixes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6743DA9-4843-5242-A219-4DB2CDEBC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New science</a:t>
            </a:r>
          </a:p>
          <a:p>
            <a:pPr lvl="1"/>
            <a:r>
              <a:rPr lang="en-US" dirty="0" err="1" smtClean="0"/>
              <a:t>fwsoil_switch</a:t>
            </a:r>
            <a:r>
              <a:rPr lang="en-US" dirty="0"/>
              <a:t>=</a:t>
            </a:r>
            <a:r>
              <a:rPr lang="en-US" dirty="0" smtClean="0"/>
              <a:t>'Haverd2013</a:t>
            </a:r>
          </a:p>
          <a:p>
            <a:pPr lvl="1"/>
            <a:r>
              <a:rPr lang="en-US" dirty="0" err="1" smtClean="0">
                <a:solidFill>
                  <a:schemeClr val="accent3"/>
                </a:solidFill>
              </a:rPr>
              <a:t>gs_switch</a:t>
            </a:r>
            <a:r>
              <a:rPr lang="en-US" dirty="0">
                <a:solidFill>
                  <a:schemeClr val="accent3"/>
                </a:solidFill>
              </a:rPr>
              <a:t>=</a:t>
            </a:r>
            <a:r>
              <a:rPr lang="en-US" dirty="0" smtClean="0">
                <a:solidFill>
                  <a:schemeClr val="accent3"/>
                </a:solidFill>
              </a:rPr>
              <a:t>'</a:t>
            </a:r>
            <a:r>
              <a:rPr lang="en-US" dirty="0" err="1" smtClean="0">
                <a:solidFill>
                  <a:schemeClr val="accent3"/>
                </a:solidFill>
              </a:rPr>
              <a:t>leuning</a:t>
            </a:r>
            <a:r>
              <a:rPr lang="en-US" dirty="0">
                <a:solidFill>
                  <a:schemeClr val="accent3"/>
                </a:solidFill>
              </a:rPr>
              <a:t>' </a:t>
            </a:r>
            <a:r>
              <a:rPr lang="en-US" dirty="0" smtClean="0">
                <a:solidFill>
                  <a:schemeClr val="accent3"/>
                </a:solidFill>
              </a:rPr>
              <a:t> ('</a:t>
            </a:r>
            <a:r>
              <a:rPr lang="en-US" dirty="0" err="1" smtClean="0">
                <a:solidFill>
                  <a:schemeClr val="accent3"/>
                </a:solidFill>
              </a:rPr>
              <a:t>medyln</a:t>
            </a:r>
            <a:r>
              <a:rPr lang="en-US" dirty="0">
                <a:solidFill>
                  <a:schemeClr val="accent3"/>
                </a:solidFill>
              </a:rPr>
              <a:t>'</a:t>
            </a:r>
            <a:r>
              <a:rPr lang="en-US" dirty="0" smtClean="0">
                <a:solidFill>
                  <a:schemeClr val="accent3"/>
                </a:solidFill>
              </a:rPr>
              <a:t> also tested)</a:t>
            </a:r>
            <a:endParaRPr lang="en-US" dirty="0">
              <a:solidFill>
                <a:schemeClr val="accent3"/>
              </a:solidFill>
            </a:endParaRPr>
          </a:p>
          <a:p>
            <a:pPr lvl="1"/>
            <a:r>
              <a:rPr lang="en-US" dirty="0" err="1" smtClean="0">
                <a:solidFill>
                  <a:schemeClr val="accent3"/>
                </a:solidFill>
              </a:rPr>
              <a:t>gw_model</a:t>
            </a:r>
            <a:r>
              <a:rPr lang="en-US" dirty="0">
                <a:solidFill>
                  <a:schemeClr val="accent3"/>
                </a:solidFill>
              </a:rPr>
              <a:t>=.false</a:t>
            </a:r>
            <a:r>
              <a:rPr lang="en-US" dirty="0" smtClean="0">
                <a:solidFill>
                  <a:schemeClr val="accent3"/>
                </a:solidFill>
              </a:rPr>
              <a:t>. Strange results when tested</a:t>
            </a:r>
          </a:p>
          <a:p>
            <a:pPr lvl="1"/>
            <a:r>
              <a:rPr lang="en-US" dirty="0" err="1">
                <a:solidFill>
                  <a:schemeClr val="accent3"/>
                </a:solidFill>
              </a:rPr>
              <a:t>or_evap</a:t>
            </a:r>
            <a:r>
              <a:rPr lang="en-US" dirty="0">
                <a:solidFill>
                  <a:schemeClr val="accent3"/>
                </a:solidFill>
              </a:rPr>
              <a:t>=.false</a:t>
            </a:r>
            <a:r>
              <a:rPr lang="en-US" dirty="0" smtClean="0">
                <a:solidFill>
                  <a:schemeClr val="accent3"/>
                </a:solidFill>
              </a:rPr>
              <a:t>.  Soil pore physics</a:t>
            </a:r>
            <a:endParaRPr lang="en-US" dirty="0">
              <a:solidFill>
                <a:schemeClr val="accent3"/>
              </a:solidFill>
            </a:endParaRPr>
          </a:p>
          <a:p>
            <a:r>
              <a:rPr lang="en-US" dirty="0" smtClean="0"/>
              <a:t>Coupling improvements and fixes</a:t>
            </a:r>
            <a:endParaRPr lang="en-US" dirty="0"/>
          </a:p>
          <a:p>
            <a:pPr lvl="1"/>
            <a:r>
              <a:rPr lang="en-US" dirty="0" err="1" smtClean="0"/>
              <a:t>l_rev_corr</a:t>
            </a:r>
            <a:r>
              <a:rPr lang="en-US" dirty="0"/>
              <a:t>=.true</a:t>
            </a:r>
            <a:r>
              <a:rPr lang="en-US" dirty="0" smtClean="0"/>
              <a:t>.  </a:t>
            </a:r>
            <a:endParaRPr lang="en-US" dirty="0"/>
          </a:p>
          <a:p>
            <a:pPr lvl="1"/>
            <a:r>
              <a:rPr lang="en-US" dirty="0" err="1" smtClean="0"/>
              <a:t>l_revised_coupling</a:t>
            </a:r>
            <a:r>
              <a:rPr lang="en-US" dirty="0"/>
              <a:t>=.true</a:t>
            </a:r>
            <a:r>
              <a:rPr lang="en-US" dirty="0" smtClean="0"/>
              <a:t>.  </a:t>
            </a:r>
            <a:endParaRPr lang="en-US" dirty="0"/>
          </a:p>
          <a:p>
            <a:pPr lvl="1"/>
            <a:r>
              <a:rPr lang="en-US" dirty="0" err="1" smtClean="0"/>
              <a:t>soil_thermal_fix</a:t>
            </a:r>
            <a:r>
              <a:rPr lang="en-US" dirty="0"/>
              <a:t>=.true</a:t>
            </a:r>
            <a:r>
              <a:rPr lang="en-US" dirty="0" smtClean="0"/>
              <a:t>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1465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9933"/>
            <a:ext cx="7886700" cy="531107"/>
          </a:xfrm>
        </p:spPr>
        <p:txBody>
          <a:bodyPr>
            <a:noAutofit/>
          </a:bodyPr>
          <a:lstStyle/>
          <a:p>
            <a:r>
              <a:rPr lang="en-AU" sz="2400" dirty="0" smtClean="0"/>
              <a:t>Latent heat relative to </a:t>
            </a:r>
            <a:r>
              <a:rPr lang="en-AU" sz="2400" dirty="0" err="1" smtClean="0"/>
              <a:t>LandFlux</a:t>
            </a:r>
            <a:r>
              <a:rPr lang="en-AU" sz="2400" dirty="0" smtClean="0"/>
              <a:t> data 1990-2005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021840" y="768588"/>
            <a:ext cx="1028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Standard</a:t>
            </a:r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5809005" y="768588"/>
            <a:ext cx="949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/>
              <a:t>o</a:t>
            </a:r>
            <a:r>
              <a:rPr lang="en-AU" dirty="0" err="1" smtClean="0"/>
              <a:t>r_evap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97" r="49926" b="29573"/>
          <a:stretch/>
        </p:blipFill>
        <p:spPr>
          <a:xfrm>
            <a:off x="455930" y="1137920"/>
            <a:ext cx="3816000" cy="3096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34" r="49926" b="29167"/>
          <a:stretch/>
        </p:blipFill>
        <p:spPr>
          <a:xfrm>
            <a:off x="4508525" y="1137920"/>
            <a:ext cx="3816000" cy="3132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5" t="70022" r="9025" b="25727"/>
          <a:stretch/>
        </p:blipFill>
        <p:spPr>
          <a:xfrm>
            <a:off x="780240" y="4441252"/>
            <a:ext cx="6264000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854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9933"/>
            <a:ext cx="7886700" cy="531107"/>
          </a:xfrm>
        </p:spPr>
        <p:txBody>
          <a:bodyPr>
            <a:noAutofit/>
          </a:bodyPr>
          <a:lstStyle/>
          <a:p>
            <a:r>
              <a:rPr lang="en-AU" sz="2400" dirty="0" smtClean="0"/>
              <a:t>Screen temperature bias relative to </a:t>
            </a:r>
            <a:r>
              <a:rPr lang="en-AU" sz="2400" dirty="0" err="1" smtClean="0"/>
              <a:t>ERAint</a:t>
            </a:r>
            <a:r>
              <a:rPr lang="en-AU" sz="2400" dirty="0" smtClean="0"/>
              <a:t> 1988-2011</a:t>
            </a: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6" t="29689" r="49405" b="29580"/>
          <a:stretch/>
        </p:blipFill>
        <p:spPr>
          <a:xfrm>
            <a:off x="437007" y="1137920"/>
            <a:ext cx="3870274" cy="31037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29898" r="49804" b="29352"/>
          <a:stretch/>
        </p:blipFill>
        <p:spPr>
          <a:xfrm>
            <a:off x="4498924" y="1136472"/>
            <a:ext cx="3824783" cy="31051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6" t="70476" r="8428" b="26217"/>
          <a:stretch/>
        </p:blipFill>
        <p:spPr>
          <a:xfrm>
            <a:off x="936640" y="4433214"/>
            <a:ext cx="6336000" cy="2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21840" y="768588"/>
            <a:ext cx="1028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Standard</a:t>
            </a:r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5809005" y="768588"/>
            <a:ext cx="949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/>
              <a:t>o</a:t>
            </a:r>
            <a:r>
              <a:rPr lang="en-AU" dirty="0" err="1" smtClean="0"/>
              <a:t>r_evap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31086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9933"/>
            <a:ext cx="7886700" cy="561587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Coupled model results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463021" y="825253"/>
            <a:ext cx="4042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Global annual mean surface temperature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1804345" y="3996914"/>
            <a:ext cx="1017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 smtClean="0"/>
              <a:t>Model year</a:t>
            </a:r>
            <a:endParaRPr lang="en-AU" sz="1400" dirty="0"/>
          </a:p>
        </p:txBody>
      </p:sp>
      <p:sp>
        <p:nvSpPr>
          <p:cNvPr id="8" name="TextBox 7"/>
          <p:cNvSpPr txBox="1"/>
          <p:nvPr/>
        </p:nvSpPr>
        <p:spPr>
          <a:xfrm rot="16200000">
            <a:off x="30480" y="2523898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aseline="30000" dirty="0" err="1" smtClean="0"/>
              <a:t>o</a:t>
            </a:r>
            <a:r>
              <a:rPr lang="en-AU" dirty="0" err="1" smtClean="0"/>
              <a:t>C</a:t>
            </a:r>
            <a:endParaRPr lang="en-AU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0" t="13304" r="6495" b="10405"/>
          <a:stretch/>
        </p:blipFill>
        <p:spPr>
          <a:xfrm>
            <a:off x="357727" y="1168423"/>
            <a:ext cx="3900230" cy="285328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6" t="14001" r="6495" b="11107"/>
          <a:stretch/>
        </p:blipFill>
        <p:spPr>
          <a:xfrm>
            <a:off x="4799069" y="1194585"/>
            <a:ext cx="3847988" cy="28009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46400" y="2903489"/>
            <a:ext cx="6527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b="1" dirty="0" smtClean="0"/>
              <a:t>JULES </a:t>
            </a:r>
          </a:p>
          <a:p>
            <a:r>
              <a:rPr lang="en-AU" sz="1400" b="1" dirty="0" smtClean="0">
                <a:solidFill>
                  <a:srgbClr val="FF0000"/>
                </a:solidFill>
              </a:rPr>
              <a:t>CABLE</a:t>
            </a:r>
            <a:endParaRPr lang="en-AU" sz="1400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539517" y="842292"/>
            <a:ext cx="2059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Net TOA energy flux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6386505" y="4040062"/>
            <a:ext cx="1017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 smtClean="0"/>
              <a:t>Model year</a:t>
            </a:r>
            <a:endParaRPr lang="en-AU"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7404156" y="2921538"/>
            <a:ext cx="6527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b="1" dirty="0" smtClean="0"/>
              <a:t>JULES </a:t>
            </a:r>
          </a:p>
          <a:p>
            <a:r>
              <a:rPr lang="en-AU" sz="1400" b="1" dirty="0" smtClean="0">
                <a:solidFill>
                  <a:srgbClr val="FF0000"/>
                </a:solidFill>
              </a:rPr>
              <a:t>CABLE</a:t>
            </a:r>
            <a:endParaRPr lang="en-AU" sz="1400" b="1" dirty="0">
              <a:solidFill>
                <a:srgbClr val="FF0000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3" t="14443" r="6306" b="11437"/>
          <a:stretch/>
        </p:blipFill>
        <p:spPr>
          <a:xfrm>
            <a:off x="4799069" y="1211624"/>
            <a:ext cx="3852000" cy="2772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578698" y="3055889"/>
            <a:ext cx="6527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b="1" dirty="0" smtClean="0"/>
              <a:t>JULES </a:t>
            </a:r>
          </a:p>
          <a:p>
            <a:r>
              <a:rPr lang="en-AU" sz="1400" b="1" dirty="0" smtClean="0">
                <a:solidFill>
                  <a:srgbClr val="FF0000"/>
                </a:solidFill>
              </a:rPr>
              <a:t>CABLE</a:t>
            </a:r>
            <a:endParaRPr lang="en-AU" sz="1400" b="1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42794" y="842292"/>
            <a:ext cx="4155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 smtClean="0"/>
              <a:t>Net TOA energy flux and change in ocean heat content</a:t>
            </a:r>
            <a:endParaRPr lang="en-AU" sz="1400" dirty="0"/>
          </a:p>
        </p:txBody>
      </p:sp>
      <p:sp>
        <p:nvSpPr>
          <p:cNvPr id="19" name="TextBox 18"/>
          <p:cNvSpPr txBox="1"/>
          <p:nvPr/>
        </p:nvSpPr>
        <p:spPr>
          <a:xfrm rot="16200000">
            <a:off x="4257772" y="2344361"/>
            <a:ext cx="6880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W m</a:t>
            </a:r>
            <a:r>
              <a:rPr lang="en-AU" sz="1600" baseline="30000" dirty="0" smtClean="0"/>
              <a:t>-2</a:t>
            </a:r>
            <a:endParaRPr lang="en-AU" sz="1600" baseline="30000" dirty="0"/>
          </a:p>
        </p:txBody>
      </p:sp>
    </p:spTree>
    <p:extLst>
      <p:ext uri="{BB962C8B-B14F-4D97-AF65-F5344CB8AC3E}">
        <p14:creationId xmlns:p14="http://schemas.microsoft.com/office/powerpoint/2010/main" val="1550916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" y="2328895"/>
            <a:ext cx="7227428" cy="26502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51" r="7536" b="10185"/>
          <a:stretch/>
        </p:blipFill>
        <p:spPr>
          <a:xfrm>
            <a:off x="789634" y="433310"/>
            <a:ext cx="3708000" cy="19870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9" t="16146" r="-4489" b="10153"/>
          <a:stretch/>
        </p:blipFill>
        <p:spPr>
          <a:xfrm>
            <a:off x="4497634" y="440335"/>
            <a:ext cx="4010190" cy="198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55418" y="63978"/>
            <a:ext cx="171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CABLE – JULES DJF</a:t>
            </a:r>
            <a:endParaRPr lang="en-AU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5480938" y="87316"/>
            <a:ext cx="16779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CABLE – JULES JJA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566601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Martin Dix: martin.dix@csiro.au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531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ESCC Hub 2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E6877"/>
      </a:accent1>
      <a:accent2>
        <a:srgbClr val="9E9F9D"/>
      </a:accent2>
      <a:accent3>
        <a:srgbClr val="615E5F"/>
      </a:accent3>
      <a:accent4>
        <a:srgbClr val="899F99"/>
      </a:accent4>
      <a:accent5>
        <a:srgbClr val="2E4045"/>
      </a:accent5>
      <a:accent6>
        <a:srgbClr val="5E3C58"/>
      </a:accent6>
      <a:hlink>
        <a:srgbClr val="0000FF"/>
      </a:hlink>
      <a:folHlink>
        <a:srgbClr val="800080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60739987-0465-2146-A55F-979FC588DF3C}" vid="{502EAF14-3905-C040-9C5A-F3C93ECF80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B82DC99B231B4289A7D2DA8AEF491E" ma:contentTypeVersion="0" ma:contentTypeDescription="Create a new document." ma:contentTypeScope="" ma:versionID="7ab2771f0ff6c8db12c66e47e5277da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6E393D-08A9-448F-AF81-3114C5ACFC4A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08FB0DC-211C-4581-BEF8-8316ED0A35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0FE7265-1029-4149-B1EE-3C0A7B43980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ESCC_16-9_180227</Template>
  <TotalTime>2720</TotalTime>
  <Words>165</Words>
  <Application>Microsoft Office PowerPoint</Application>
  <PresentationFormat>On-screen Show (16:9)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ACCESS CM-2 with CABLE</vt:lpstr>
      <vt:lpstr>Recent simulations</vt:lpstr>
      <vt:lpstr>New CABLE science &amp; fixes</vt:lpstr>
      <vt:lpstr>Latent heat relative to LandFlux data 1990-2005</vt:lpstr>
      <vt:lpstr>Screen temperature bias relative to ERAint 1988-2011</vt:lpstr>
      <vt:lpstr>Coupled model results</vt:lpstr>
      <vt:lpstr>PowerPoint Presentation</vt:lpstr>
      <vt:lpstr>Martin Dix: martin.dix@csiro.au </vt:lpstr>
    </vt:vector>
  </TitlesOfParts>
  <Company>CSIRO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 CM-2 with CABLE</dc:title>
  <dc:creator>Dix, Martin (O&amp;A, Aspendale)</dc:creator>
  <cp:lastModifiedBy>Dix, Martin (O&amp;A, Aspendale)</cp:lastModifiedBy>
  <cp:revision>20</cp:revision>
  <dcterms:created xsi:type="dcterms:W3CDTF">2018-05-30T03:30:38Z</dcterms:created>
  <dcterms:modified xsi:type="dcterms:W3CDTF">2018-06-01T00:50:51Z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0x010100EDB82DC99B231B4289A7D2DA8AEF491E</vt:lpwstr>
  </property>
</Properties>
</file>